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7AF2C-D2EA-4768-9340-3EAFCB397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50490-5548-4AEA-A977-D35CA00B1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7961B-AA46-4CB6-9A56-ACD4EE2CA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1612-516A-4631-B5C3-87B0BC2211E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2F3E7-506F-4289-B1C6-9AD3CE227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428F4-F289-4DE5-9F2C-12D31D9A0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52B9-027D-4BF1-9E9B-B3DA73499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93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BD90C-23E8-4586-8355-D0D20CC0E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23B31-D6F4-4882-A575-74745C30D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E17F6-5E01-4115-B47D-0B2F16A2C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1612-516A-4631-B5C3-87B0BC2211E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CB266-8A7C-43B0-9BED-88CEDFB3D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06F9D-9A2A-4929-BD1F-D12A5253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52B9-027D-4BF1-9E9B-B3DA73499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41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2EF6-2A17-47F6-8BCA-905A022BF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5FF9A-1557-4A03-9902-AF83B3486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FF1AF-43BE-4018-A5FA-4D6C6B73F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1612-516A-4631-B5C3-87B0BC2211E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495CC-C865-44D6-B9E3-6F8FCC42E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772B1-7A0B-4BBA-9C84-71804D479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52B9-027D-4BF1-9E9B-B3DA73499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28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6A22B-3C76-45DB-804E-5648EA016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6ECF4-F26D-4C26-9D7E-9320F4BF57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8BB99-74B7-4C3A-886B-FEB07AAAE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75F0E-5B43-4E2F-A0A3-FA9D6FCBA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1612-516A-4631-B5C3-87B0BC2211E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6D543-3C21-4396-989A-6370149EB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A58D1-B8E2-4F9C-9728-183FEB0AB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52B9-027D-4BF1-9E9B-B3DA73499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3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5299E-5C61-4CF0-865E-096068B86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FA422-0E4A-4005-A937-941713E35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F14723-D61B-4B7F-8C38-DF73FC255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428017-EF9B-43D2-ACDE-DA7CEBC933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5A6EB2-4646-4FE6-B633-E4D933AB92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E3C736-09A8-4A7F-9F70-BF70E50C0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1612-516A-4631-B5C3-87B0BC2211E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439355-BF1C-48DF-B08A-60A69319A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5FD590-757F-4AB3-9877-EE4808E3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52B9-027D-4BF1-9E9B-B3DA73499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AB14-B3D2-4761-8CCE-D6EAA6FF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EA1B45-A531-4AF8-85D5-02A2BFB91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1612-516A-4631-B5C3-87B0BC2211E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D90540-3C29-435F-A4EF-7085DDCE6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CF49E-72BC-4CE9-9F84-6AD7BE93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52B9-027D-4BF1-9E9B-B3DA73499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3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F114A4-432D-4407-9221-81D5DE7C1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1612-516A-4631-B5C3-87B0BC2211E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B561B2-93C2-4BD1-B9AA-FD489A4E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0D879-11C9-4F78-949A-F999D5284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52B9-027D-4BF1-9E9B-B3DA73499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246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E854-6758-40B5-BFE8-7F450648A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8F165-18E8-4B9C-9A92-2ABF7E3E6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A9CFC-673E-452A-9F1A-1191F1954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9E685-1881-4E03-86BC-639FF95B5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1612-516A-4631-B5C3-87B0BC2211E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8551F-38F0-40E0-B536-3306D2D2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A6D5B-6D5F-4A88-BE2C-392D2CEE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52B9-027D-4BF1-9E9B-B3DA73499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24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1008B-B3D6-47AB-917C-3D5A5E626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A04469-B6CD-4F12-85BC-E3BEF2E04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E6A3BB-F91E-4CB5-A43A-3D3519438E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EF169-F413-409F-9017-0BBBC8D67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1612-516A-4631-B5C3-87B0BC2211E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1B5C4-97F3-4C1B-B7F9-BF807B342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04008-318E-4397-BC7B-328E2EC96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52B9-027D-4BF1-9E9B-B3DA73499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68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E7930-6549-4A02-8D67-ADDBDD9BE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8F9FBC-6661-437E-8B9B-B0A2B53CD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D8F2F-FF38-4CD6-96B4-7590176EE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1612-516A-4631-B5C3-87B0BC2211E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3EAE9-253A-4748-B824-4E3FF7A64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59CA8-BBF9-4FB8-B17D-B3B63B6DD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52B9-027D-4BF1-9E9B-B3DA73499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60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7EDF32-B1FB-4F02-8A0F-94203D9120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83EA5-B305-4579-9D0F-C50DF479F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E0201-C1B0-456A-A790-D63905CA5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1612-516A-4631-B5C3-87B0BC2211E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7BCF6-0262-4B1E-AC5B-F2A66332C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85B60-7D2D-4855-B066-D71BDA02B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52B9-027D-4BF1-9E9B-B3DA73499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70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2D5D80-04BD-4733-B29A-73CC4E1D3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FDD86-24E2-456E-BAC1-20509EECF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0FA10-9BA8-4A76-99FE-DC66027DAC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91612-516A-4631-B5C3-87B0BC2211E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3D9AE-74A1-499D-8DE4-DAF2D2953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46B1A-FE98-4CCC-A36F-C08C9451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B52B9-027D-4BF1-9E9B-B3DA73499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66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4A26C-9E01-4038-B558-83B2C06B7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7165" y="607458"/>
            <a:ext cx="9144000" cy="2387600"/>
          </a:xfrm>
        </p:spPr>
        <p:txBody>
          <a:bodyPr>
            <a:normAutofit fontScale="90000"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5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 PROJECT</a:t>
            </a:r>
            <a:br>
              <a:rPr lang="en-US" sz="5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5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TOPIC: EPOKA CLUBS SYSTEM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0A851-458B-4E2F-84DA-B64063207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6711" y="2585157"/>
            <a:ext cx="11119556" cy="3318932"/>
          </a:xfrm>
        </p:spPr>
        <p:txBody>
          <a:bodyPr>
            <a:normAutofit fontScale="92500" lnSpcReduction="20000"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MEMBERS: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Viola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Zeneli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(Leader)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Sidrit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Rrustemi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Noel Zani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Nikol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Dalipi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Suada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Terolli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Alesia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Dardha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 DIVISON: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Viola 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Zeneli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ER Diagram, Relational Schema, Indexes and 25 Managerial Queries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Sidrit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Rrustemi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Front End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Nikol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Dalipi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SQL code (creation and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instertion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for Advisor, Supervises and an UPDATE example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Noel Zani: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SQL code (creation and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instertion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for Students,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participatesIn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isMemberOf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normalization example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Suada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Terolli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SQL code (creation and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instertion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for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DOSEmployee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Reports and an UPDATE example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Alesia 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Dardha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SQL code (creation and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instertion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for Club, Event and a DELETE example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497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0642E-C1E2-4CA6-82BF-96469AB7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81" y="500062"/>
            <a:ext cx="10515600" cy="1325563"/>
          </a:xfrm>
        </p:spPr>
        <p:txBody>
          <a:bodyPr/>
          <a:lstStyle/>
          <a:p>
            <a:pPr algn="ctr"/>
            <a:r>
              <a:rPr lang="en-US" sz="4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 OUTLINE AND PLANNING </a:t>
            </a:r>
            <a:br>
              <a:rPr lang="en-US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BB7CF-59CC-48DB-B027-5E51D0503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949" y="1648072"/>
            <a:ext cx="11163669" cy="4312461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develop a database for the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Epoka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Clubs system stems from the growing need for universities to foster extracurricular 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activities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through student clubs while ensuring efficient management of these activities. 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addressing the growing need for data organization and accessibility the project aims to support both the university's administrative staff and the students participating in various clubs. 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first step of our project was collecting information about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Epoka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Clubs, so that we had a better understanding before we created our own database. We had a discussion with the Student Clubs and Activities Specialist and later we explored the already created website for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Epoka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Clubs on the internet.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that we discussed as a group and shared our opinions which entities to create and how they are related. After we all agreed on our groups er diagram, then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Viola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made it in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ERDPlus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Based on the ERD, she also made the Relational Schema on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ERDPlus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Then the work was divided in this way 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Nikol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Suada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Alesia took each 2 entities from our ERD. They created the relations, inserted values and provided update and delete examples.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Noel took 3 entities and created the relations and inserted values for them. She also provided an example for normalization (changing 1 of our tables just to give an example, since all our tables were already normalized).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they finished, Viola checked all the codes and joined them all together. Meanwhile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Sidrit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continued his work on front end part, so that when the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was all finished by the girls, he could only connect the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his front end.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Viola joined all the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codes, she continued to create indexes for each table column so that the speed was increased when we perform select operations, since her next task was to create 25 managerial queries.  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all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was finished, then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Sidrit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connect it with his front end, and our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epoka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clubs database and website are ready now.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26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9905C-82B5-43D3-A4EA-BDB3A6D3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RESEARCH AND IDEA CONSOLIDATION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2B8E6-B11E-4A97-AE30-7D0E9FC95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027" y="1690688"/>
            <a:ext cx="10847773" cy="4907456"/>
          </a:xfrm>
        </p:spPr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Normalization: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Normalization 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avoids data duplication and inconsistencies, making the database faster, more reliable, and easier to maintain. Since all our tables were already normalized (on 3</a:t>
            </a:r>
            <a:r>
              <a:rPr lang="en-GB" sz="1800" kern="1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normal form), Noel provided an example how to normalize the table if it were not normalized.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Our tables satisfy 3NF because the design eliminates redundancy, ensures all non-prime attributes depend directly on the primary key, and removes any dependencies between non-prime attributes.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This ensures data integrity and prevents anomalies (e.g., insertion, update, and deletion anomalies), which are critical for maintaining a reliable and efficient database.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Indexing 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for the speed, indexing was implemented for each column ,by Viola, to enhance query performance, especially for frequently searched attributes such as Student IDs, Club IDs, and Event dates.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ndexing</a:t>
            </a: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 critical feature in relational databases that improves the performance of query execution.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though indexes consume extra storage,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 the database to locate and access data more quickly 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instead of scanning the entire table for each query.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74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62A1-5E0F-47F6-84EE-D5E9EF8C8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8934" y="124178"/>
            <a:ext cx="5249334" cy="2031999"/>
          </a:xfrm>
        </p:spPr>
        <p:txBody>
          <a:bodyPr>
            <a:normAutofit/>
          </a:bodyPr>
          <a:lstStyle/>
          <a:p>
            <a:pPr algn="ctr"/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 EXECUTION</a:t>
            </a:r>
            <a:b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ERD DIAGRAM 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7C31EF-C6A1-4C68-A452-3868978727F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893" y="1140177"/>
            <a:ext cx="8311416" cy="514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920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9DED2-2076-4C93-A915-0B375C55B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+mn-lt"/>
              </a:rPr>
              <a:t>RELATIONAL SCHEMA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911CFD-3CB1-43E2-A642-8BE17A1C411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908" y="1421414"/>
            <a:ext cx="7599054" cy="465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516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35D81-9596-49E0-8212-8B691788D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570" y="466789"/>
            <a:ext cx="9811497" cy="881555"/>
          </a:xfrm>
        </p:spPr>
        <p:txBody>
          <a:bodyPr>
            <a:normAutofit fontScale="90000"/>
          </a:bodyPr>
          <a:lstStyle/>
          <a:p>
            <a:r>
              <a:rPr lang="en-US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 CODE (Create relations, insert values, create indexes, make queries)</a:t>
            </a:r>
            <a:br>
              <a:rPr lang="en-US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Advisor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4" name="Picture 3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E6562995-8247-4DBC-B7CC-7067D4B4112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90" y="4259111"/>
            <a:ext cx="5059514" cy="9582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B747DA-B309-4831-B2A5-25FF906A7983}"/>
              </a:ext>
            </a:extLst>
          </p:cNvPr>
          <p:cNvSpPr txBox="1"/>
          <p:nvPr/>
        </p:nvSpPr>
        <p:spPr>
          <a:xfrm>
            <a:off x="5424004" y="690412"/>
            <a:ext cx="60945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INTO Advisor (AID,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AFirstName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ALastName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AEmail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ADepartment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AOffice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AOfficePhone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VALUES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('A', 'Sabrina', '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Begaj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', 'sbegaj@epoka.edu.al', 'Computer Engineering', 'E007', 1533),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('B', '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Redjola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', '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Manaj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', 'manaj@epoka.edu.al', 'Computer Engineering', 'A106', 1551),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('C', '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Andia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', '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Tafa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', 'atafa@epoka.edu.al', 'Computer Engineering', 'A120', 1578),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('D', '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Valmir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', '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', 'vbame@epoka.edu.al', 'Computer Engineering', 'E202', 1670),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('E', 'Ari', '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Gjerazi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', 'agjerazi@epoka.edu.al', 'Computer Engineering', 'E108', 1542);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6E99E6-A027-4AB2-8005-C2C1E1EA706C}"/>
              </a:ext>
            </a:extLst>
          </p:cNvPr>
          <p:cNvSpPr txBox="1"/>
          <p:nvPr/>
        </p:nvSpPr>
        <p:spPr>
          <a:xfrm>
            <a:off x="673476" y="1255416"/>
            <a:ext cx="60945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TABLE Advisor(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AID CHAR PRIMARY KEY,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AFirstName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VARCHAR(20)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ALastName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VARCHAR(20)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AEmail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VARCHAR(50)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ADepartment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VARCHAR(100)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AOffice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CHAR(4)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AOfficePhone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 NOT NULL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52D9CAC6-476E-4D43-B055-1526A43DCCE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509" y="4259111"/>
            <a:ext cx="5731510" cy="15424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B02738-5286-47B9-8DC9-0F834A1C606E}"/>
              </a:ext>
            </a:extLst>
          </p:cNvPr>
          <p:cNvSpPr txBox="1"/>
          <p:nvPr/>
        </p:nvSpPr>
        <p:spPr>
          <a:xfrm>
            <a:off x="295183" y="5458845"/>
            <a:ext cx="6094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this table, the dependency can be identified as: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AID -&gt;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AFirstName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ALastName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AEmail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ADepartment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AOffice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AOfficePhone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(FKD)</a:t>
            </a:r>
          </a:p>
        </p:txBody>
      </p:sp>
    </p:spTree>
    <p:extLst>
      <p:ext uri="{BB962C8B-B14F-4D97-AF65-F5344CB8AC3E}">
        <p14:creationId xmlns:p14="http://schemas.microsoft.com/office/powerpoint/2010/main" val="2571694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F4063-7EF3-4704-870D-55A1A75FC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561" y="-14007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Supervises</a:t>
            </a:r>
            <a:endParaRPr lang="en-US" sz="2800" b="1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D85E22-2CF8-4A3C-BC8D-37CE69CA1D27}"/>
              </a:ext>
            </a:extLst>
          </p:cNvPr>
          <p:cNvSpPr txBox="1"/>
          <p:nvPr/>
        </p:nvSpPr>
        <p:spPr>
          <a:xfrm>
            <a:off x="376561" y="1059025"/>
            <a:ext cx="60945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TABLE Supervises(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AID CHAR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CID INT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StartYear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EndYear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PRIMARY KEY (AID, CID),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FOREIGN KEY (AID) REFERENCES Advisor (AID) ON DELETE CASCADE ON UPDATE RESTRICT,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FOREIGN KEY (CID) REFERENCES Club (CID) ON DELETE CASCADE ON UPDATE RESTRICT );</a:t>
            </a:r>
          </a:p>
        </p:txBody>
      </p:sp>
      <p:pic>
        <p:nvPicPr>
          <p:cNvPr id="8" name="Picture 7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6E5BBB10-C9AD-431A-B055-1329B770A03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60" y="4084006"/>
            <a:ext cx="5731510" cy="9709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454034-2B88-4294-A37D-1620738665B8}"/>
              </a:ext>
            </a:extLst>
          </p:cNvPr>
          <p:cNvSpPr txBox="1"/>
          <p:nvPr/>
        </p:nvSpPr>
        <p:spPr>
          <a:xfrm>
            <a:off x="6026691" y="1283419"/>
            <a:ext cx="58923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INTO Supervises (AID, CID,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StartYear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EndYear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VALUES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it-IT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('A', 5, 2021, NULL),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it-IT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('C', 18, 2018, 2022),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it-IT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('E', 9, 2023, NULL),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('B', 11, 2019, 2023),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('C', 7, 2024, NULL);</a:t>
            </a:r>
          </a:p>
        </p:txBody>
      </p:sp>
      <p:pic>
        <p:nvPicPr>
          <p:cNvPr id="11" name="Picture 10" descr="A screenshot of a black screen&#10;&#10;Description automatically generated">
            <a:extLst>
              <a:ext uri="{FF2B5EF4-FFF2-40B4-BE49-F238E27FC236}">
                <a16:creationId xmlns:a16="http://schemas.microsoft.com/office/drawing/2014/main" id="{6F907970-523F-4D20-94BF-D77F14E77F6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307" y="3300596"/>
            <a:ext cx="5892319" cy="17543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A479A09-A079-4113-A8F9-CD39917F7629}"/>
              </a:ext>
            </a:extLst>
          </p:cNvPr>
          <p:cNvSpPr txBox="1"/>
          <p:nvPr/>
        </p:nvSpPr>
        <p:spPr>
          <a:xfrm>
            <a:off x="544267" y="5317772"/>
            <a:ext cx="1063840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Advisor and Club hold a many-to-many relationship (though a club is usually supervised by 1 or 2 advisors).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From this table, the dependency can be identified as: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AID, CID -&gt; </a:t>
            </a: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StartYear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EndYear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(FKD)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321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7AF4-3660-4A3D-862B-387441829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11" y="19169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+mn-lt"/>
              </a:rPr>
              <a:t>UPDATE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334588-3173-4C53-91FE-A7EEEECC8596}"/>
              </a:ext>
            </a:extLst>
          </p:cNvPr>
          <p:cNvSpPr txBox="1"/>
          <p:nvPr/>
        </p:nvSpPr>
        <p:spPr>
          <a:xfrm>
            <a:off x="455350" y="1282316"/>
            <a:ext cx="1128129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suppose we want to update the Office Phone of one of the Advisors: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UPDATE Advisor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 </a:t>
            </a:r>
            <a:r>
              <a:rPr lang="en-US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AOfficePhone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1654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AOfficePhone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1551;</a:t>
            </a:r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BF6189A-6603-428A-9ECE-8F9C2C2183C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16" y="2607879"/>
            <a:ext cx="6927542" cy="27587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A1A44F-D76B-479C-9D17-ACC43D8244AD}"/>
              </a:ext>
            </a:extLst>
          </p:cNvPr>
          <p:cNvSpPr txBox="1"/>
          <p:nvPr/>
        </p:nvSpPr>
        <p:spPr>
          <a:xfrm>
            <a:off x="746211" y="4230841"/>
            <a:ext cx="57315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Office Phone of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Advisor </a:t>
            </a:r>
            <a:r>
              <a:rPr lang="en-US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Redjola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Manaj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 been updated.</a:t>
            </a:r>
          </a:p>
        </p:txBody>
      </p:sp>
    </p:spTree>
    <p:extLst>
      <p:ext uri="{BB962C8B-B14F-4D97-AF65-F5344CB8AC3E}">
        <p14:creationId xmlns:p14="http://schemas.microsoft.com/office/powerpoint/2010/main" val="3198888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B1762-7D8E-48FD-A52B-6657224F3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96" y="71883"/>
            <a:ext cx="10515600" cy="1325563"/>
          </a:xfrm>
        </p:spPr>
        <p:txBody>
          <a:bodyPr/>
          <a:lstStyle/>
          <a:p>
            <a:r>
              <a:rPr lang="en-US" dirty="0"/>
              <a:t>Students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ABA71-AE3F-42BB-AFBD-800DFF903B71}"/>
              </a:ext>
            </a:extLst>
          </p:cNvPr>
          <p:cNvSpPr txBox="1"/>
          <p:nvPr/>
        </p:nvSpPr>
        <p:spPr>
          <a:xfrm>
            <a:off x="167735" y="1224218"/>
            <a:ext cx="6094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TABLE Students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StID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CHAR(5)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StFName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 (25)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StLName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 (25)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StDepartment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 (5)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StEmail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 (20)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StPhoneNumber VARCHAR(10)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StYearOfStudy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 (1) NOT NULL,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PRIMARY KEY (</a:t>
            </a: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StID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);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0FA429-AA02-4163-A3DF-17DC76174FC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35" y="4083728"/>
            <a:ext cx="5441213" cy="154684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35103ED6-7BC5-4A6A-9833-1A5D251AF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3862" y="49861"/>
            <a:ext cx="8418138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INSERT INTO Students(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StFName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StLName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StDepartment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StEmail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StPhoneNumber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StYearOfStudy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VALUES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('12345','Noel','Zani','SWE','nzani23@epoka.edu.al','0695436572','2'),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('11223','Viola','Zeneli','SWE','vzeneli23@epoka.edu.al','0693453496','2'),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('22453','Teddy','Daniels','BINF','tdaniels22@epoka.edu.al','0671253675','3'),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('25341','Nikol','Dalipi','SWE','ndalipi23@epoka.edu.al','0673916235','1'),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('12546','James','Conway','CEN','jconway24@epoka.edu.al','0691890744','1'),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('32546','Sidrit','Rrustemi','SWE','srrustemi23@epoka.edu.al','0695722508','2'),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('26743','Suada','Terolli','SWE','sterolli23@epoka.edu.al','0675647890','1'),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('19364','Joe','Pesci','IML','jpesci22@epoka.edu.al','0682501370','3'),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('37628','Alesia','Dardha','SWE','adardha23@epoka.edu.al','0691096341','2'),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('46378','Henry','Hill','CEN','hhill22@epoka.edu.al','0690749216','3');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9" name="Picture 7">
            <a:extLst>
              <a:ext uri="{FF2B5EF4-FFF2-40B4-BE49-F238E27FC236}">
                <a16:creationId xmlns:a16="http://schemas.microsoft.com/office/drawing/2014/main" id="{D0184E3E-BEFE-44C0-B40D-56CEC3052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688" y="2883773"/>
            <a:ext cx="5943600" cy="278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910960F6-7B9A-4829-AADF-89F3417E3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1596" y="21478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924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8DDBC-020F-44AF-B66C-26CAD6515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02" y="60533"/>
            <a:ext cx="10515600" cy="735706"/>
          </a:xfrm>
        </p:spPr>
        <p:txBody>
          <a:bodyPr>
            <a:normAutofit fontScale="90000"/>
          </a:bodyPr>
          <a:lstStyle/>
          <a:p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isMemberOf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C40E8-5416-4EFF-BA08-292015E9013C}"/>
              </a:ext>
            </a:extLst>
          </p:cNvPr>
          <p:cNvSpPr txBox="1"/>
          <p:nvPr/>
        </p:nvSpPr>
        <p:spPr>
          <a:xfrm>
            <a:off x="268550" y="310386"/>
            <a:ext cx="389507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TABLE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isMemberOf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StID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CHAR (5)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CID INT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RoleForClub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 (15)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YearOfEnrollment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 (4)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Attendance   INT (3) NOT NULL,                   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PRIMARY KEY (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StID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CID),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FOREIGN KEY (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StId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REFERENCES Students (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StId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ON DELETE CASCADE ON UPDATE RESTRICT,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FOREIGN KEY (CID) REFERENCES Club (CID) ON DELETE CASCADE ON UPDATE RESTRICT);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DACE32-0934-4BFD-948C-C2E20C8E1E8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113" y="615005"/>
            <a:ext cx="5787501" cy="12705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87B7D4-8BB6-4F29-B441-373D55BA223F}"/>
              </a:ext>
            </a:extLst>
          </p:cNvPr>
          <p:cNvSpPr txBox="1"/>
          <p:nvPr/>
        </p:nvSpPr>
        <p:spPr>
          <a:xfrm>
            <a:off x="126507" y="2594281"/>
            <a:ext cx="60945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INTO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isMemberOf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StID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CID,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RoleForClub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YearOfEnrollment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Attendance) VALUES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('25341','2','President','2024','100'),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('12546','2','VicePresident','2024','96'),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('37628','2','Member','2023','87'),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('26743','2','Member','2024','50'),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('11223','2','Secretary','2024','98'),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('12345','2','Treasurer','2023','90'),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('32546','2','Member','2024','95'),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('22453','2','Member','2022','68'),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('46378','5','Member','2022','78'),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('12345','5','President','2023','100'),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('19364','5','Member','2022','67'),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('11223','5','Treasurer','2023','70'),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('22453','5','VicePresident','2022','94'),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('26743','5','Member','2024','88'),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('32546','5','Secretary','2023','90');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4EB341-CD34-4D9F-8FC2-D1CE9C29EAE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656" y="3056447"/>
            <a:ext cx="6510416" cy="35466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719C18-ECB7-453B-9ECA-07DE7B9E6250}"/>
              </a:ext>
            </a:extLst>
          </p:cNvPr>
          <p:cNvSpPr txBox="1"/>
          <p:nvPr/>
        </p:nvSpPr>
        <p:spPr>
          <a:xfrm>
            <a:off x="268550" y="5812714"/>
            <a:ext cx="6094520" cy="581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567305" algn="l"/>
              </a:tabLs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student can be a member of more than 1 club.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567305" algn="l"/>
              </a:tabLs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 club needs at least 6 students to be created.</a:t>
            </a:r>
          </a:p>
        </p:txBody>
      </p:sp>
    </p:spTree>
    <p:extLst>
      <p:ext uri="{BB962C8B-B14F-4D97-AF65-F5344CB8AC3E}">
        <p14:creationId xmlns:p14="http://schemas.microsoft.com/office/powerpoint/2010/main" val="2936153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633EE-4A1B-4FF8-A03B-6895DE813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21" y="493142"/>
            <a:ext cx="10515600" cy="457200"/>
          </a:xfrm>
        </p:spPr>
        <p:txBody>
          <a:bodyPr>
            <a:normAutofit fontScale="90000"/>
          </a:bodyPr>
          <a:lstStyle/>
          <a:p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participatesIn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A851B49-B966-4AB6-B858-538D4BDC6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69" y="719199"/>
            <a:ext cx="6913624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CREATE TABLE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participatesIn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CHAR (5) NOT NULL,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EID CHAR NOT NULL,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RoleForEvent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VARCHAR (15) NOT NULL,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PRIMARY KEY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StID,EID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FOREIGN KEY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REFERENCES Students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ON DELETE CASCADE ON UPDATE RESTRICT,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3" name="Picture 12">
            <a:extLst>
              <a:ext uri="{FF2B5EF4-FFF2-40B4-BE49-F238E27FC236}">
                <a16:creationId xmlns:a16="http://schemas.microsoft.com/office/drawing/2014/main" id="{D3884F1E-8546-4250-BCEC-3B859CC6A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001" y="740072"/>
            <a:ext cx="5500688" cy="93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1B7E45D1-B7AE-4E39-B16B-8B2B5E9BF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733" y="1748932"/>
            <a:ext cx="66423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FOREIGN KEY (EID) REFERENCES Event (EID) ON DELETE CASCADE ON UPDATE RESTRICT);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915FBD-0863-4FF2-A697-A97EA62BF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733" y="2431988"/>
            <a:ext cx="447148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INSERT INTO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participatesIn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EID,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RoleForEvent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)VALUES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('32546','a','Organizator'),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('26743','a','Participant'),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('19364','a','Participant'),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('12345','a','Participant'),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('25341','a','Participant'),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('46378','a','Participant'),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('11223','a','Participant'),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('46378','c','Participant'),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('26743','c','Participant'),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('11223','c','Organizator'),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('22453','c','Participant'),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('37628','c','Participant'),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6" name="Picture 10">
            <a:extLst>
              <a:ext uri="{FF2B5EF4-FFF2-40B4-BE49-F238E27FC236}">
                <a16:creationId xmlns:a16="http://schemas.microsoft.com/office/drawing/2014/main" id="{8A6BAB2E-4590-417A-8440-208CD1064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494" y="2607249"/>
            <a:ext cx="5165546" cy="3310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69785A8-4247-413F-973E-D0E88DE43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733" y="5025983"/>
            <a:ext cx="1996957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('19364','c','Participant');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924A79-8DD0-4E17-B71F-C8277FEE09B9}"/>
              </a:ext>
            </a:extLst>
          </p:cNvPr>
          <p:cNvSpPr txBox="1"/>
          <p:nvPr/>
        </p:nvSpPr>
        <p:spPr>
          <a:xfrm>
            <a:off x="126506" y="6072470"/>
            <a:ext cx="89384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student can participate in more than 1 event. 1 event needs at least 6 students to happen.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58816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CE262B-CA59-4A14-8526-FA1027F61136}"/>
              </a:ext>
            </a:extLst>
          </p:cNvPr>
          <p:cNvSpPr txBox="1"/>
          <p:nvPr/>
        </p:nvSpPr>
        <p:spPr>
          <a:xfrm>
            <a:off x="4582657" y="183641"/>
            <a:ext cx="609452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567305" algn="l"/>
              </a:tabLst>
            </a:pPr>
            <a:r>
              <a:rPr lang="en-U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NORMALIZATION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433B5B-F364-47C5-9B80-D3CD6611A55B}"/>
              </a:ext>
            </a:extLst>
          </p:cNvPr>
          <p:cNvSpPr txBox="1"/>
          <p:nvPr/>
        </p:nvSpPr>
        <p:spPr>
          <a:xfrm>
            <a:off x="552634" y="681037"/>
            <a:ext cx="6094520" cy="96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567305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suppose that there were dependencies in the Student table where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StID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primary key and we had to normalize it. It would look like this: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CD7539-10CD-4961-AD9E-0CC3A38449F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52634" y="1649315"/>
            <a:ext cx="6019060" cy="1386848"/>
          </a:xfrm>
          <a:prstGeom prst="rect">
            <a:avLst/>
          </a:prstGeom>
        </p:spPr>
      </p:pic>
      <p:pic>
        <p:nvPicPr>
          <p:cNvPr id="9" name="Graphic 3" descr="Checkmark with solid fill">
            <a:extLst>
              <a:ext uri="{FF2B5EF4-FFF2-40B4-BE49-F238E27FC236}">
                <a16:creationId xmlns:a16="http://schemas.microsoft.com/office/drawing/2014/main" id="{5460265E-D9DB-4F5F-AF8B-D239C95F615D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1816" y="4237429"/>
            <a:ext cx="257175" cy="217805"/>
          </a:xfrm>
          <a:prstGeom prst="rect">
            <a:avLst/>
          </a:prstGeom>
        </p:spPr>
      </p:pic>
      <p:pic>
        <p:nvPicPr>
          <p:cNvPr id="10" name="Graphic 3" descr="Checkmark with solid fill">
            <a:extLst>
              <a:ext uri="{FF2B5EF4-FFF2-40B4-BE49-F238E27FC236}">
                <a16:creationId xmlns:a16="http://schemas.microsoft.com/office/drawing/2014/main" id="{D2D52D66-C727-4F17-A5BF-DE496776BD30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7607" y="4504625"/>
            <a:ext cx="257175" cy="217805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3BC94E61-DBDA-4B70-B779-2F49D2BA1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703" y="3440513"/>
            <a:ext cx="603402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66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66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66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66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66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66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66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66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66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66988" algn="l"/>
              </a:tabLs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the table, the following dependencies can be identified: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buFontTx/>
              <a:buAutoNum type="arabicPeriod"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StID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StFName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StLName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StDepartment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StEmail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StPhoneNumber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StYearOfStudy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StAdvisor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(FKD)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2566988" algn="l"/>
              </a:tabLst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StAdvisor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AdvisorOffice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(TKD)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66988" algn="l"/>
              </a:tabLst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66988" algn="l"/>
              </a:tabLst>
            </a:pPr>
            <a:endParaRPr lang="en-US" alt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66988" algn="l"/>
              </a:tabLs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table is already on the 1</a:t>
            </a:r>
            <a:r>
              <a:rPr kumimoji="0" lang="en-US" altLang="en-US" sz="11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form (No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multivalues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1684664A-F8C1-422F-8438-3903E54C2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703" y="439760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1100" b="0" i="0" u="none" strike="noStrike" cap="none" normalizeH="0" baseline="3000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form(No PKD).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E1E3397F-1624-4D75-986F-55B358304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703" y="461352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66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66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66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66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66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66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66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66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66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66988" algn="l"/>
              </a:tabLs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en-US" altLang="en-US" sz="11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form(No TKD) we would have these tables: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1C9A8D7-2957-4C99-B43E-00F5F8CB568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9159" y="5027512"/>
            <a:ext cx="5943600" cy="17297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FF1D-1F8C-4C84-AFEB-8CAC58C422EB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096000" y="5027512"/>
            <a:ext cx="5943600" cy="17297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444047F-D56A-400A-8777-CF179538C22A}"/>
              </a:ext>
            </a:extLst>
          </p:cNvPr>
          <p:cNvSpPr txBox="1"/>
          <p:nvPr/>
        </p:nvSpPr>
        <p:spPr>
          <a:xfrm>
            <a:off x="7068457" y="4660411"/>
            <a:ext cx="6431872" cy="31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567305" algn="l"/>
              </a:tabLs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table </a:t>
            </a:r>
            <a:r>
              <a:rPr lang="en-US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StAdvisor</a:t>
            </a: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would be a primary key.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857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42817B3-E001-4DAA-842F-5CEBFC186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697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TABLE Club(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CID INT PRIMARY KEY,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VARCHAR(100) NOT NULL,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CFoundDate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DATE NOT NULL,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CNrOfParticipants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 NOT NULL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372D7F8-0F30-403F-A0DC-0CB150D66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INTO Club(CID,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CFoundDate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CNrOfParticipants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)VALUES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(1,'Film Club','15-09-2018',480),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(2,'Young Talent Music Club','09-10-2020',340),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(3,'Sports Club','25-19-2015',675),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(4,'Google Developer Club','12-10-2019',1198),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(5,'Future Engineers Club','23-11-2018',956),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(6,'Volunteer Club','28-09-2016',1043),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(7,'Diplomacy Club','17-10-2023',180),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(8,'Young Economists Network','29-09-2022',215),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(9,'Finance Club','16-11-2017',940),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(10,'Programming Club','21-10-2016',1062),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(11,'Electronics Club','13-11-2018',867),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(12,'Innovators Club','29-11-2022',657),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(13,'Marketing Zone Club','12-10-2019',1035),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(14,'Sensitive Society Club','05-10-2023',726),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(15,'Iustitia Club','23-11-2018',740),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(16,'Ncep Club','16-10-2022',320),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(17,'Multimedia Club','21-10-2017',527),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(18,'Book Lovers Club','15-09-2021',614),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(19,'Theater Club','15-09-2021',462),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(20,'Podcast And Journal Club','24-10-2024',315),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(21,'Human Rights Defender Club','19-10-2024',214),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(22,'Art Club','20-10-2017',1010),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(23,'Womens Leadership Club','27-10-2021',826),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(24,'Robotic Club','02-11-2024',769),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(25,'Outdoors Club','31-10-2018',942);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B8E375-B75B-4BC0-8C86-79CD5DE0988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298" y="234888"/>
            <a:ext cx="5409535" cy="3657599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2593AEED-6B20-4C39-B938-A9FBDCED058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298" y="4146612"/>
            <a:ext cx="5409535" cy="2476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D864E7-C7EE-4D22-A8C4-0551EEA4CB8A}"/>
              </a:ext>
            </a:extLst>
          </p:cNvPr>
          <p:cNvSpPr txBox="1"/>
          <p:nvPr/>
        </p:nvSpPr>
        <p:spPr>
          <a:xfrm>
            <a:off x="0" y="6067412"/>
            <a:ext cx="5409535" cy="60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the table, the dependency can be identified as: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CID --&gt;   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CName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CFoundDate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CNrOfParticipants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(FKD)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8133BB-CD9B-C6CB-6752-979B05E186F6}"/>
              </a:ext>
            </a:extLst>
          </p:cNvPr>
          <p:cNvSpPr txBox="1"/>
          <p:nvPr/>
        </p:nvSpPr>
        <p:spPr>
          <a:xfrm>
            <a:off x="3506117" y="234888"/>
            <a:ext cx="844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L" sz="2400" b="1" dirty="0"/>
              <a:t>CLUB</a:t>
            </a:r>
            <a:endParaRPr lang="en-AL" b="1" dirty="0"/>
          </a:p>
        </p:txBody>
      </p:sp>
    </p:spTree>
    <p:extLst>
      <p:ext uri="{BB962C8B-B14F-4D97-AF65-F5344CB8AC3E}">
        <p14:creationId xmlns:p14="http://schemas.microsoft.com/office/powerpoint/2010/main" val="2297214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DB0754C-8F4C-4D48-BCF6-9B15CA5D8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951" y="22218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TABLE Event(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EID CHAR PRIMARY KEY,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VARCHAR(100) NOT NULL,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EDATE DATE NOT NULL,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ELocation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VARCHAR(100) NOT NULL,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EDescription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VARCHAR(250) NOT NULL,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ESponsor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VARCHAR(100),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CID INT,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FOREIGN KEY (CID) REFERENCES Club(CID) ON DELETE CASCADE ON UPDATE RESTRICT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5" name="Picture 1">
            <a:extLst>
              <a:ext uri="{FF2B5EF4-FFF2-40B4-BE49-F238E27FC236}">
                <a16:creationId xmlns:a16="http://schemas.microsoft.com/office/drawing/2014/main" id="{0FD4143F-1EA5-4338-A7E8-1E45CA1A4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39" y="3633609"/>
            <a:ext cx="5345113" cy="97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F663177C-CC21-4BF8-BFE9-FFC6E792D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652" y="3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E3661-2DD0-4E9D-A14A-57B372E55695}"/>
              </a:ext>
            </a:extLst>
          </p:cNvPr>
          <p:cNvSpPr txBox="1"/>
          <p:nvPr/>
        </p:nvSpPr>
        <p:spPr>
          <a:xfrm>
            <a:off x="6068374" y="1298860"/>
            <a:ext cx="615666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INTO Event(EID,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EName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EDate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ELocation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EDescription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ESponsor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CID) VALUES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a','Movie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Screening: The Truman Show','19-01-2023','Conference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Hall','Movie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Screening next week',NULL,1),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b','Art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Week','23-03-2023','Epoka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Campus','Showcasing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local artists',NULL,22),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c','Spring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Fest','24-05-2023','Epoka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Campus','Annual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University Festival','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Epoka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University',2),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d','Club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Fest','04-11-2024','Epoka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Campus','Get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know all the clubs offered at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Epoka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','x bank',2),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('e','DevFest','22-12-2024','Pyramid of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Tirana','A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meetup for tech enthusiasts','Google',4),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f','Football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League','15-10-2024','Soccer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Field','All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interested should apply for the teams',NULL,3),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g','Poetry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Competition','15-03-2023','A101','Call for all interested',NULL,22);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44628E-E099-4164-A841-4854F9850E3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951" y="3688271"/>
            <a:ext cx="5731510" cy="29476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23485E-EDE5-43B3-8E47-8CFEBC16114E}"/>
              </a:ext>
            </a:extLst>
          </p:cNvPr>
          <p:cNvSpPr txBox="1"/>
          <p:nvPr/>
        </p:nvSpPr>
        <p:spPr>
          <a:xfrm>
            <a:off x="124287" y="4981197"/>
            <a:ext cx="6156664" cy="141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the table, the dependency can be identified as: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EID  --&gt;    </a:t>
            </a: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EName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EDate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ELocation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EDescription,ESponsor,CID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(FKD)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both table there’s a Full Key </a:t>
            </a: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Depndency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 we don’t have to do Normalization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35357E-41AF-4834-9F95-DED92A960FE6}"/>
              </a:ext>
            </a:extLst>
          </p:cNvPr>
          <p:cNvSpPr txBox="1"/>
          <p:nvPr/>
        </p:nvSpPr>
        <p:spPr>
          <a:xfrm>
            <a:off x="461638" y="537890"/>
            <a:ext cx="2104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Event</a:t>
            </a:r>
          </a:p>
        </p:txBody>
      </p:sp>
    </p:spTree>
    <p:extLst>
      <p:ext uri="{BB962C8B-B14F-4D97-AF65-F5344CB8AC3E}">
        <p14:creationId xmlns:p14="http://schemas.microsoft.com/office/powerpoint/2010/main" val="1893445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BF690A-39B2-4D3E-AE8E-FE32FB588CC2}"/>
              </a:ext>
            </a:extLst>
          </p:cNvPr>
          <p:cNvSpPr txBox="1"/>
          <p:nvPr/>
        </p:nvSpPr>
        <p:spPr>
          <a:xfrm>
            <a:off x="463858" y="621967"/>
            <a:ext cx="11467730" cy="1358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suppose I want to delete the last row of the table Event. In that case I would write: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DELETE FROM Event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EID='</a:t>
            </a:r>
            <a:r>
              <a:rPr lang="en-GB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A41BE9-CC78-4286-9A75-1559A555F36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891" y="2139519"/>
            <a:ext cx="6925809" cy="31694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038649-DF3E-410D-9933-A18CB32F2CAF}"/>
              </a:ext>
            </a:extLst>
          </p:cNvPr>
          <p:cNvSpPr txBox="1"/>
          <p:nvPr/>
        </p:nvSpPr>
        <p:spPr>
          <a:xfrm>
            <a:off x="3500021" y="5743301"/>
            <a:ext cx="609452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see that the last row is deleted from the table</a:t>
            </a:r>
          </a:p>
        </p:txBody>
      </p:sp>
    </p:spTree>
    <p:extLst>
      <p:ext uri="{BB962C8B-B14F-4D97-AF65-F5344CB8AC3E}">
        <p14:creationId xmlns:p14="http://schemas.microsoft.com/office/powerpoint/2010/main" val="2923033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974C31-E285-466D-98D1-8A1EFF572C53}"/>
              </a:ext>
            </a:extLst>
          </p:cNvPr>
          <p:cNvSpPr txBox="1"/>
          <p:nvPr/>
        </p:nvSpPr>
        <p:spPr>
          <a:xfrm>
            <a:off x="211837" y="843677"/>
            <a:ext cx="60945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TABLE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DOSEmployee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DID VARCHAR(4) PRIMARY KEY,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DFirstName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VARCHAR(25)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DLastName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VARCHAR(25)NOT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DRole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VARCHAR(50)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DEmail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VARCHAR(77)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DOffice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CHAR(4)NOT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DOfficePhone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B60C64-B1A9-4058-B0F6-B31CA520A43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37" y="3491822"/>
            <a:ext cx="5436580" cy="850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C0010D-7587-45AE-B376-4F6ADBD98815}"/>
              </a:ext>
            </a:extLst>
          </p:cNvPr>
          <p:cNvSpPr txBox="1"/>
          <p:nvPr/>
        </p:nvSpPr>
        <p:spPr>
          <a:xfrm>
            <a:off x="5885643" y="187222"/>
            <a:ext cx="60945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INTO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DOSEmployee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(DID,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DFirstName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DLastName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Drole,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DEmail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DOffice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DOfficePhone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VALUES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('AA01','Sadullah', 'Yilmaz', 'Dean of Students', 'syilmaz@epoka.edu.al', 'A001', 111222333),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('AB02', 'Naida', '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Ertekin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', 'Vice Dean of Students', 'nertekin@epoka.edu.al', 'E005', 123345567),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('AC03', '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Jonida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', '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Sota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', 'Coordinator', 'jsota@epoka.edu.al', 'E008', 432578975),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('AD04', '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Kelima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', '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Hima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', 'Career Planning and Alumni Specialist', 'khima@epoka.edu.al', 'D104', 754231821),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('AE05', '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Jona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', '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Kaso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', 'Student Clubs and Activities Specialist', 'jkaso@epoka.edu.al', 'E002', 512721910);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95123C-F329-4998-BF30-F57615720BA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535" y="3917272"/>
            <a:ext cx="5968736" cy="23422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97878B-C9C3-45CC-B0D2-9837997578B6}"/>
              </a:ext>
            </a:extLst>
          </p:cNvPr>
          <p:cNvSpPr txBox="1"/>
          <p:nvPr/>
        </p:nvSpPr>
        <p:spPr>
          <a:xfrm>
            <a:off x="274729" y="4917991"/>
            <a:ext cx="6094520" cy="1045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the table, the dependency can be identified as: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DID -&gt; 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DFirstName</a:t>
            </a:r>
            <a:r>
              <a:rPr lang="en-US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DLastName</a:t>
            </a:r>
            <a:r>
              <a:rPr lang="en-US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Drole, 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DEmail</a:t>
            </a:r>
            <a:r>
              <a:rPr lang="en-US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DOffice</a:t>
            </a:r>
            <a:r>
              <a:rPr lang="en-US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kern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DOfficePhone</a:t>
            </a:r>
            <a:r>
              <a:rPr lang="en-US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(FKD)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27C7B9-D173-4AB0-BDF5-C8A14E7DEB71}"/>
              </a:ext>
            </a:extLst>
          </p:cNvPr>
          <p:cNvSpPr txBox="1"/>
          <p:nvPr/>
        </p:nvSpPr>
        <p:spPr>
          <a:xfrm>
            <a:off x="488272" y="187222"/>
            <a:ext cx="35777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DOSEmployee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25145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99C83-EBCC-4F6F-B07F-5B6AFA4FC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726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+mn-lt"/>
              </a:rPr>
              <a:t>Report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6B11B6-1897-45EA-9BCA-BE857CD8C501}"/>
              </a:ext>
            </a:extLst>
          </p:cNvPr>
          <p:cNvSpPr txBox="1"/>
          <p:nvPr/>
        </p:nvSpPr>
        <p:spPr>
          <a:xfrm>
            <a:off x="206406" y="980917"/>
            <a:ext cx="60945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TABLE Report(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RAcademicYear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CHAR(9) PRIMARY KEY,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RDateSubmitted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DATE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RNrOfEvents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RNrOfClubs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DID VARCHAR(4) NOT NULL,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FOREIGN KEY (DID) REFERENCES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DOSEmployee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DELETE CASCADE ON UPDATE RESTRICT );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1225FB-3C43-4916-B00E-837F4FBEF13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59" y="2365912"/>
            <a:ext cx="4741901" cy="6923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2FA565-D64A-4DA3-83F8-663D3BD9FEAD}"/>
              </a:ext>
            </a:extLst>
          </p:cNvPr>
          <p:cNvSpPr txBox="1"/>
          <p:nvPr/>
        </p:nvSpPr>
        <p:spPr>
          <a:xfrm>
            <a:off x="6096000" y="525344"/>
            <a:ext cx="609452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INTO Report(</a:t>
            </a:r>
            <a:r>
              <a:rPr lang="en-US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RAcademicYear</a:t>
            </a: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RDateSubmitted</a:t>
            </a: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RNrOfEvents</a:t>
            </a: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RNrOfClubs</a:t>
            </a: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DID) VALUES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('2017-2018', '07/27/2018', 34, 10, 'AB02'),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('2018-2019', '08/26/2019', 25, 13, 'AA01'),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('2019-2020', '08/06/2020', 33, 20, 'AC03'),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('2021-2022', '07/21/2022', 26, 22, 'AE05'),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('2022-2023', '01/20/2023', 45, 24, 'AD04');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CEC9ED-D646-4162-84E4-1E374FDC4C2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631" y="2234170"/>
            <a:ext cx="5731510" cy="22253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37A075-7DF4-4516-9D67-4F8EC4D04745}"/>
              </a:ext>
            </a:extLst>
          </p:cNvPr>
          <p:cNvSpPr txBox="1"/>
          <p:nvPr/>
        </p:nvSpPr>
        <p:spPr>
          <a:xfrm>
            <a:off x="197528" y="3159628"/>
            <a:ext cx="6294268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the table, the dependency can be identified as: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RAcademicYear</a:t>
            </a:r>
            <a:r>
              <a:rPr lang="en-US" sz="12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-&gt; 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RDateSubmitted</a:t>
            </a:r>
            <a:r>
              <a:rPr lang="en-US" sz="12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RNrOfEvents</a:t>
            </a:r>
            <a:r>
              <a:rPr lang="en-US" sz="12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kern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RNrOfClubs</a:t>
            </a:r>
            <a:r>
              <a:rPr lang="en-US" sz="12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DID (FKD)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both tables, there is Full Key Dependency, so we don’t have to do normalization.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FFE67B-9905-4B61-996C-DFCF12EE313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06" y="4199977"/>
            <a:ext cx="5392142" cy="25649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7EA59F4-BF78-4922-98F6-C4FD75F5F86E}"/>
              </a:ext>
            </a:extLst>
          </p:cNvPr>
          <p:cNvSpPr txBox="1"/>
          <p:nvPr/>
        </p:nvSpPr>
        <p:spPr>
          <a:xfrm>
            <a:off x="6097480" y="5126828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UPDATE Report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RNrOfEvents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=10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RNrOfEvents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=2</a:t>
            </a: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30782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BF0536-B282-4E1C-A657-F77D473D78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36" t="38058" r="36578" b="12103"/>
          <a:stretch/>
        </p:blipFill>
        <p:spPr>
          <a:xfrm>
            <a:off x="221941" y="284085"/>
            <a:ext cx="4154749" cy="3417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81D5B6-C965-4520-BEA2-323FD3188A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25" t="30033" r="31481" b="20129"/>
          <a:stretch/>
        </p:blipFill>
        <p:spPr>
          <a:xfrm>
            <a:off x="5537255" y="3338873"/>
            <a:ext cx="4727082" cy="33105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F1CDE6-185B-4FC5-9E9F-825524181A6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36" t="31715" r="33374" b="25307"/>
          <a:stretch/>
        </p:blipFill>
        <p:spPr>
          <a:xfrm>
            <a:off x="221941" y="3701989"/>
            <a:ext cx="4509856" cy="29473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483528-ED8F-F69E-DC57-E4CFD14C56BD}"/>
              </a:ext>
            </a:extLst>
          </p:cNvPr>
          <p:cNvSpPr txBox="1"/>
          <p:nvPr/>
        </p:nvSpPr>
        <p:spPr>
          <a:xfrm>
            <a:off x="4731797" y="414062"/>
            <a:ext cx="67715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INDEX</a:t>
            </a:r>
            <a:endParaRPr lang="en-A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AL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improve query performance, we will create indexes for all columns in e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ach </a:t>
            </a:r>
            <a:r>
              <a:rPr lang="en-AL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table. </a:t>
            </a:r>
          </a:p>
          <a:p>
            <a:r>
              <a:rPr lang="en-A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ndexing</a:t>
            </a: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 critical feature in relational databases that improves the performance of query execution.</a:t>
            </a: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A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though indexes consume extra storage, </a:t>
            </a:r>
            <a:r>
              <a:rPr lang="en-A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 the database to locate and access data more quickly 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instead of scanning the entire table for each query.</a:t>
            </a:r>
            <a:endParaRPr lang="en-A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L" dirty="0"/>
          </a:p>
        </p:txBody>
      </p:sp>
    </p:spTree>
    <p:extLst>
      <p:ext uri="{BB962C8B-B14F-4D97-AF65-F5344CB8AC3E}">
        <p14:creationId xmlns:p14="http://schemas.microsoft.com/office/powerpoint/2010/main" val="3420204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52306CF-2CA9-44B7-A3A2-EF6894A7AF0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65" y="512328"/>
            <a:ext cx="5387340" cy="25698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05B3A5-2E63-40CB-9EA9-81A9EC9CDC30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" t="912"/>
          <a:stretch/>
        </p:blipFill>
        <p:spPr bwMode="auto">
          <a:xfrm>
            <a:off x="134065" y="3141227"/>
            <a:ext cx="5397500" cy="36290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2ACEB1-E923-4C90-81EE-21EAAC57D8E9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1"/>
          <a:stretch/>
        </p:blipFill>
        <p:spPr bwMode="auto">
          <a:xfrm>
            <a:off x="5813647" y="512327"/>
            <a:ext cx="5731510" cy="25698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4BCCF2-8A6C-4B90-8723-4E58A1750A94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647" y="3141227"/>
            <a:ext cx="5731510" cy="36585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561D91-5FC3-D26D-B7C4-D91CBD61B215}"/>
              </a:ext>
            </a:extLst>
          </p:cNvPr>
          <p:cNvSpPr txBox="1"/>
          <p:nvPr/>
        </p:nvSpPr>
        <p:spPr>
          <a:xfrm>
            <a:off x="2962033" y="130106"/>
            <a:ext cx="626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 of all final tables (to better understand how queries work) : </a:t>
            </a:r>
            <a:endParaRPr lang="en-A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L" dirty="0"/>
          </a:p>
        </p:txBody>
      </p:sp>
    </p:spTree>
    <p:extLst>
      <p:ext uri="{BB962C8B-B14F-4D97-AF65-F5344CB8AC3E}">
        <p14:creationId xmlns:p14="http://schemas.microsoft.com/office/powerpoint/2010/main" val="725728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A4C89C-09CB-4B8C-8713-0C7C6DC6FBD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43" y="3315563"/>
            <a:ext cx="5714999" cy="16718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56A9F6-CABB-40C7-B7B6-03F48C2307C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43" y="5080000"/>
            <a:ext cx="5714999" cy="177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EB0C9A-EB67-48B1-8510-26DF361E193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-1633"/>
            <a:ext cx="6096000" cy="39877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088788-52E4-4F2F-979F-0EE6735B436F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986075"/>
            <a:ext cx="6096000" cy="2871926"/>
          </a:xfrm>
          <a:prstGeom prst="rect">
            <a:avLst/>
          </a:prstGeom>
        </p:spPr>
      </p:pic>
      <p:pic>
        <p:nvPicPr>
          <p:cNvPr id="2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050EBC98-CA09-2416-DB3A-A0BF2E25F30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42" y="1622778"/>
            <a:ext cx="5715000" cy="1600200"/>
          </a:xfrm>
          <a:prstGeom prst="rect">
            <a:avLst/>
          </a:prstGeom>
        </p:spPr>
      </p:pic>
      <p:pic>
        <p:nvPicPr>
          <p:cNvPr id="3" name="Picture 2" descr="A screenshot of a black screen&#10;&#10;Description automatically generated">
            <a:extLst>
              <a:ext uri="{FF2B5EF4-FFF2-40B4-BE49-F238E27FC236}">
                <a16:creationId xmlns:a16="http://schemas.microsoft.com/office/drawing/2014/main" id="{40B8B2EA-F673-012D-9398-F185E975458B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32" y="112889"/>
            <a:ext cx="5731510" cy="142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41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73D335F4-1294-4364-A125-A846DDD6D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98" y="589915"/>
            <a:ext cx="5663953" cy="1123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1.Students with the role president(in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isMemberOf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for any of the clubs.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s.StFName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FirstName,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s.StLName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LastName,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ClubName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Students s,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isMemberOf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Club c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im.StID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im.RoleForClub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'President';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69" name="Picture 9">
            <a:extLst>
              <a:ext uri="{FF2B5EF4-FFF2-40B4-BE49-F238E27FC236}">
                <a16:creationId xmlns:a16="http://schemas.microsoft.com/office/drawing/2014/main" id="{7F6140C7-0948-4665-892A-A7737C764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83" y="1558023"/>
            <a:ext cx="4906963" cy="82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11AADAB5-0D9A-44A7-9DEE-E0A0933C4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575" y="17633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0B517018-D9A0-4766-8571-A5662A548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29" y="2416304"/>
            <a:ext cx="4157613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2.Clubs with More Than 500 Participants Ordered by Name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ClubName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CNrOfParticipants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Participants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Club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CNrOfParticipants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 500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BY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ASC;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2" name="Picture 10">
            <a:extLst>
              <a:ext uri="{FF2B5EF4-FFF2-40B4-BE49-F238E27FC236}">
                <a16:creationId xmlns:a16="http://schemas.microsoft.com/office/drawing/2014/main" id="{FCB51532-3E21-4982-BA25-A806C0DDD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79" y="3482941"/>
            <a:ext cx="4106863" cy="332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49972747-E051-4B95-BCEE-D0C78C31E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229" y="61679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60F89E00-EEDD-4CE0-9E51-F6B5ADE78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4417" y="586831"/>
            <a:ext cx="6265334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3.Events Organized by Clubs Found Before 2020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ordered from latest event date to newest event date.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ClubName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e.EDate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EventDate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Event e, Club c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c.CFoundDate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 '2020-01-01'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e.EDate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DESC;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5" name="Picture 11">
            <a:extLst>
              <a:ext uri="{FF2B5EF4-FFF2-40B4-BE49-F238E27FC236}">
                <a16:creationId xmlns:a16="http://schemas.microsoft.com/office/drawing/2014/main" id="{9D80567F-3C6F-4DD4-9059-3D6874E09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034" y="1929700"/>
            <a:ext cx="4778375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9">
            <a:extLst>
              <a:ext uri="{FF2B5EF4-FFF2-40B4-BE49-F238E27FC236}">
                <a16:creationId xmlns:a16="http://schemas.microsoft.com/office/drawing/2014/main" id="{1A1E4F91-1FBA-4448-8110-911CCFE41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3751" y="284529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AE5263AA-7C1B-44A2-A8BC-CA7301535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3263" y="3822153"/>
            <a:ext cx="4523418" cy="1123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4.Average Attendance for Each Role in Clubs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RoleForClub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Role, AVG(Attendance)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AverageAttendance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isMemberOf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RoleForClub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8" name="Picture 12">
            <a:extLst>
              <a:ext uri="{FF2B5EF4-FFF2-40B4-BE49-F238E27FC236}">
                <a16:creationId xmlns:a16="http://schemas.microsoft.com/office/drawing/2014/main" id="{B9540A3A-2AE3-4DCE-8A77-D3DD5949A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6" y="4904088"/>
            <a:ext cx="4868863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2">
            <a:extLst>
              <a:ext uri="{FF2B5EF4-FFF2-40B4-BE49-F238E27FC236}">
                <a16:creationId xmlns:a16="http://schemas.microsoft.com/office/drawing/2014/main" id="{C4F7DCF3-1623-4AA6-A725-7D405F4F5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3263" y="579547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9DEC4-7968-83B4-97A4-D2716044ADB6}"/>
              </a:ext>
            </a:extLst>
          </p:cNvPr>
          <p:cNvSpPr txBox="1"/>
          <p:nvPr/>
        </p:nvSpPr>
        <p:spPr>
          <a:xfrm>
            <a:off x="3913906" y="184513"/>
            <a:ext cx="304519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MANAGERIAL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QUERIES :</a:t>
            </a:r>
            <a:endParaRPr lang="en-AL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L" dirty="0"/>
          </a:p>
        </p:txBody>
      </p:sp>
    </p:spTree>
    <p:extLst>
      <p:ext uri="{BB962C8B-B14F-4D97-AF65-F5344CB8AC3E}">
        <p14:creationId xmlns:p14="http://schemas.microsoft.com/office/powerpoint/2010/main" val="2372597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5F5445F-3DED-47FE-ACFA-CAD954633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87" y="659582"/>
            <a:ext cx="5638210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5.Advisors and the clubs they supervise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a.AFirstName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FirstName,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a.ALastName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LastName,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ClubName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Advisor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a,Supervises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s,Club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a.AID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s.AID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a.AFirstName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ASC;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3" name="Picture 13">
            <a:extLst>
              <a:ext uri="{FF2B5EF4-FFF2-40B4-BE49-F238E27FC236}">
                <a16:creationId xmlns:a16="http://schemas.microsoft.com/office/drawing/2014/main" id="{F70CFF33-A544-4B82-B472-537EB5568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51" y="1852025"/>
            <a:ext cx="4975225" cy="169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427EC082-E690-4E78-9A68-DEE88F624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250" y="29193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C32574-1BF2-4230-96C2-CB854DF0F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250" y="3753743"/>
            <a:ext cx="4477251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6.Events with more than 6 participants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COUNT(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pi.StID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TotalParticipants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Event e,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participatesIn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pi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pi.EID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e.EName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HAVING COUNT(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pi.StID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&gt; 6;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6" name="Picture 14">
            <a:extLst>
              <a:ext uri="{FF2B5EF4-FFF2-40B4-BE49-F238E27FC236}">
                <a16:creationId xmlns:a16="http://schemas.microsoft.com/office/drawing/2014/main" id="{A58C5CDE-DE5D-4E65-AE80-677DC3275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40" y="5200099"/>
            <a:ext cx="4686300" cy="86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1506575-9B7F-4850-B8DC-4F9B8F18B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150" y="505293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0DCFE644-6E83-4200-A219-921AFD120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504" y="634849"/>
            <a:ext cx="4791696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7.Top 3 Clubs with the Most Participants and their Supervisors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c.CName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ClubName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c.CNrOfParticipants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TotalParticipants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a.AFirstName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SupervisorFirstName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a.ALastName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SupervisorLastName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Club c, Supervises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s,Advisor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s.CID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s.AID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a.AID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c.CNrOfParticipants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DESC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 3;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9" name="Picture 15">
            <a:extLst>
              <a:ext uri="{FF2B5EF4-FFF2-40B4-BE49-F238E27FC236}">
                <a16:creationId xmlns:a16="http://schemas.microsoft.com/office/drawing/2014/main" id="{A3A580D8-74CF-44D6-A091-FF9247672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504" y="1966601"/>
            <a:ext cx="5227638" cy="1036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B5B08122-645D-4519-AEA9-825C91E15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7112" y="23295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70AAD5B7-3D8A-451E-A094-C5915BBE9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504" y="3157617"/>
            <a:ext cx="466788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8.Student with highest attendance for each club (that has participants)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ClubID,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ClubName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im.StID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s.StFName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StudentFirstName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s.StLName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StudentLastName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im.Attendance AS HighestAttendance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isMemberOf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Students s 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im.StID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Club c 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im.Attendance = (SELECT MAX(im2.Attendance) FROM isMemberOf im2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WHERE im2.CID = im.CID)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202" name="Picture 16">
            <a:extLst>
              <a:ext uri="{FF2B5EF4-FFF2-40B4-BE49-F238E27FC236}">
                <a16:creationId xmlns:a16="http://schemas.microsoft.com/office/drawing/2014/main" id="{95E8E71C-AA71-4389-B58F-8C37B861C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875" y="5207309"/>
            <a:ext cx="5730875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2">
            <a:extLst>
              <a:ext uri="{FF2B5EF4-FFF2-40B4-BE49-F238E27FC236}">
                <a16:creationId xmlns:a16="http://schemas.microsoft.com/office/drawing/2014/main" id="{922F86FC-2B10-496E-9B13-BC076E200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1267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25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DB6D9C7-A1A9-479B-B002-E3BAC70B4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450" y="613929"/>
            <a:ext cx="5116529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9.Clubs with events sponsored by Google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ClubName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e.EDate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EventDate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Club c ,Event 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e.ESponsor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LIKE '%Google%'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e.EDate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DESC;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7" name="Picture 17">
            <a:extLst>
              <a:ext uri="{FF2B5EF4-FFF2-40B4-BE49-F238E27FC236}">
                <a16:creationId xmlns:a16="http://schemas.microsoft.com/office/drawing/2014/main" id="{833BAC47-ABA3-4C44-959D-3D2DB5912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16" y="1849115"/>
            <a:ext cx="5173663" cy="70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2DB68E6-8083-4857-A334-F91A76AB1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697" y="191347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77B22F-2D84-470B-BF7C-AFC070CF8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6" y="2752501"/>
            <a:ext cx="5779363" cy="186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10. Students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participate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lubs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bove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verage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p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articipants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s.StFName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StudentFirstName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s.StLName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StudentLastName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ClubName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Students 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isMemberOf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im.StID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Club c 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c.CNrOfParticipants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&gt; (SELECT AVG(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CNrOfParticipants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FROM Club)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s.StFName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s.StLName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20" name="Picture 18">
            <a:extLst>
              <a:ext uri="{FF2B5EF4-FFF2-40B4-BE49-F238E27FC236}">
                <a16:creationId xmlns:a16="http://schemas.microsoft.com/office/drawing/2014/main" id="{69065134-22D7-4442-A1F8-9E2CFD981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697" y="4390635"/>
            <a:ext cx="4670425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8B86495-7292-4551-9049-5B99FABF3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697" y="542799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EBDADBE4-66F7-40EA-B33A-DCC77C272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8480" y="301380"/>
            <a:ext cx="6498405" cy="260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11.Students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articipating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vents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rganized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lubs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they are member of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s.StFName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StudentFirstName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s.StLName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StudentLastName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EventName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Students 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participatesIn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pi 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pi.StID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Event e 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pi.EID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(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SELECT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im.CID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FROM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isMemberOf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WHERE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im.StID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s.StFName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23" name="Picture 19">
            <a:extLst>
              <a:ext uri="{FF2B5EF4-FFF2-40B4-BE49-F238E27FC236}">
                <a16:creationId xmlns:a16="http://schemas.microsoft.com/office/drawing/2014/main" id="{5B8E996F-6974-4978-86E6-7097619DA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51941"/>
            <a:ext cx="5021263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1B854E18-E688-4548-97DA-1480ED74A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1231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AD337835-B780-4436-B229-A9F8F2EB3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17144"/>
            <a:ext cx="3142912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12. List all student departments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DISTINCT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StDepartment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Department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Students;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26" name="Picture 20">
            <a:extLst>
              <a:ext uri="{FF2B5EF4-FFF2-40B4-BE49-F238E27FC236}">
                <a16:creationId xmlns:a16="http://schemas.microsoft.com/office/drawing/2014/main" id="{19F2E2AF-D8E9-48C3-90AD-20F2C781D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697" y="5000235"/>
            <a:ext cx="1417638" cy="147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2">
            <a:extLst>
              <a:ext uri="{FF2B5EF4-FFF2-40B4-BE49-F238E27FC236}">
                <a16:creationId xmlns:a16="http://schemas.microsoft.com/office/drawing/2014/main" id="{5C096320-5953-4962-BEE2-F83877728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61669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32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19286C4-B36C-47BF-BDCB-87A5CFE2D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86" y="199542"/>
            <a:ext cx="5935471" cy="2046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13.Students in clubs with more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participants than average number of club participants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s.StFName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s.StLName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ClubName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Students 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isMemberOf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im.StID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Club c 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c.CNrOfParticipants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&gt; (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SELECT AVG(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CNrOfParticipants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FROM Club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1" name="Picture 21">
            <a:extLst>
              <a:ext uri="{FF2B5EF4-FFF2-40B4-BE49-F238E27FC236}">
                <a16:creationId xmlns:a16="http://schemas.microsoft.com/office/drawing/2014/main" id="{F56ECAAD-3D8B-4789-B0CE-307FBF093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86" y="2161712"/>
            <a:ext cx="5241925" cy="207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64724853-247C-4616-BF23-829865D98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86" y="353112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45" name="Picture 22">
            <a:extLst>
              <a:ext uri="{FF2B5EF4-FFF2-40B4-BE49-F238E27FC236}">
                <a16:creationId xmlns:a16="http://schemas.microsoft.com/office/drawing/2014/main" id="{9149C441-1A7D-471B-9B2C-E25162609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037" y="186455"/>
            <a:ext cx="4754563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23">
            <a:extLst>
              <a:ext uri="{FF2B5EF4-FFF2-40B4-BE49-F238E27FC236}">
                <a16:creationId xmlns:a16="http://schemas.microsoft.com/office/drawing/2014/main" id="{FABA1CB5-4411-4340-AF44-D13BA194F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037" y="4002188"/>
            <a:ext cx="4754563" cy="275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282B7891-E0FE-4DE9-BB4F-A4D76A1E9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891" y="41708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400DEB31-5B29-4F03-9CBE-19C5DACFC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891" y="69220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1CA404-ECC5-4A52-9EA2-F2EDF7EB9C8C}"/>
              </a:ext>
            </a:extLst>
          </p:cNvPr>
          <p:cNvSpPr txBox="1"/>
          <p:nvPr/>
        </p:nvSpPr>
        <p:spPr>
          <a:xfrm>
            <a:off x="521508" y="4500594"/>
            <a:ext cx="61966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14. Clubs with or without events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ClubID,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ClubName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EventName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Club c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LEFT JOIN Event e ON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e.CID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84593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5">
            <a:extLst>
              <a:ext uri="{FF2B5EF4-FFF2-40B4-BE49-F238E27FC236}">
                <a16:creationId xmlns:a16="http://schemas.microsoft.com/office/drawing/2014/main" id="{E19AF483-A287-41C4-8CA3-54654B334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83" y="1901243"/>
            <a:ext cx="4000500" cy="244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5" name="Picture 26">
            <a:extLst>
              <a:ext uri="{FF2B5EF4-FFF2-40B4-BE49-F238E27FC236}">
                <a16:creationId xmlns:a16="http://schemas.microsoft.com/office/drawing/2014/main" id="{997D703B-93D9-48AF-B5DD-44D9593A5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83" y="5758111"/>
            <a:ext cx="5021263" cy="754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8D76AE7-CDCE-4AB3-9364-02183B899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83" y="300753"/>
            <a:ext cx="5059590" cy="186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15.Students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articipants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lub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embers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s.StFName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FirstName,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s.StLName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LastName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Students 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participatesIn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pi 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pi.StID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INTERSECT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s.StFName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s.StLName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Students 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isMemberOf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im.StID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965DA2-6DDE-4996-8213-9497C3C46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83" y="4347581"/>
            <a:ext cx="3735382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16.Clubs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hat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embers but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vents</a:t>
            </a: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(can be done also with minus keyword)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DISTINCT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ClubID,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ClubName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Club c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isMemberOf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im.CID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LEFT JOIN Event e 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e.CID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NULL;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5B977E-C11D-4018-8022-1576D272A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83" y="466077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33A543A5-032B-498E-908A-1F099304E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6097" y="308448"/>
            <a:ext cx="5561266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17.Total members and average attendance for each club (that has members) sorted by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attendance in descending order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ClubID,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ClubName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COUNT(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im.StID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TotalMembers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AVG(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im.Attendance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AvgAttendance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Club c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isMemberOf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im.CID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AvgAttendance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DESC;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73" name="Picture 27">
            <a:extLst>
              <a:ext uri="{FF2B5EF4-FFF2-40B4-BE49-F238E27FC236}">
                <a16:creationId xmlns:a16="http://schemas.microsoft.com/office/drawing/2014/main" id="{C17B5196-68FA-4D61-B4FF-B55384022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097" y="2006811"/>
            <a:ext cx="5737225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D08884E4-AEDF-46D2-9760-33266D5EC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6097" y="2870253"/>
            <a:ext cx="495302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18.Total events organized by each club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ClubID,c.CName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ClubName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COUNT(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TotalEvents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Club c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LEFT JOIN Event e 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e.CID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TotalEvents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DESC;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" name="Picture 28">
            <a:extLst>
              <a:ext uri="{FF2B5EF4-FFF2-40B4-BE49-F238E27FC236}">
                <a16:creationId xmlns:a16="http://schemas.microsoft.com/office/drawing/2014/main" id="{3D4B0B92-CFA7-4592-AE75-CAEE2F29E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906" y="4101884"/>
            <a:ext cx="2981685" cy="2447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9">
            <a:extLst>
              <a:ext uri="{FF2B5EF4-FFF2-40B4-BE49-F238E27FC236}">
                <a16:creationId xmlns:a16="http://schemas.microsoft.com/office/drawing/2014/main" id="{0D714EF3-1F14-4975-8F3C-D74AD942D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401" y="4101884"/>
            <a:ext cx="3070844" cy="2410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152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E6388008-10B4-4F1B-9A5D-DC49E5C01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351" y="48710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7F7BDE0-1F55-4D58-A844-AB85219F2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351" y="72713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AA2B6E-2828-4F6D-89BE-25F856F4A154}"/>
              </a:ext>
            </a:extLst>
          </p:cNvPr>
          <p:cNvSpPr txBox="1"/>
          <p:nvPr/>
        </p:nvSpPr>
        <p:spPr>
          <a:xfrm>
            <a:off x="268550" y="138650"/>
            <a:ext cx="520446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19.Students in </a:t>
            </a:r>
            <a:r>
              <a:rPr lang="en-GB" sz="12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sz="12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ear 1 or </a:t>
            </a:r>
            <a:r>
              <a:rPr lang="en-GB" sz="12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sz="12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ear 2, along with their </a:t>
            </a:r>
            <a:r>
              <a:rPr lang="en-GB" sz="1200" kern="1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club roles and respective club names</a:t>
            </a:r>
            <a:endParaRPr lang="en-US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s.StID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StudentID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s.StFName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AS FirstName,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s.StLName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AS LastName,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im.RoleForClub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AS Role,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c.CName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ClubName</a:t>
            </a:r>
            <a:endParaRPr lang="en-US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FROM Students 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isMemberOf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s.StID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im.StID</a:t>
            </a:r>
            <a:endParaRPr lang="en-US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JOIN Club c ON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im.CID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endParaRPr lang="en-US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s.StYearOfStudy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1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UNION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s.StID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s.StFName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s.StLName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im.RoleForClub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c.CName</a:t>
            </a:r>
            <a:endParaRPr lang="en-US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FROM Students 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isMemberOf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s.StID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im.StID</a:t>
            </a:r>
            <a:endParaRPr lang="en-US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JOIN Club c ON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im.CID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c.CID</a:t>
            </a:r>
            <a:endParaRPr lang="en-US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s.StYearOfStudy</a:t>
            </a: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2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ORDER BY Role;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87BAF6-35C7-4478-A291-2D03DB0AF75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50" y="3174364"/>
            <a:ext cx="5204460" cy="30822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871D35-2570-4509-9792-10177698B6EF}"/>
              </a:ext>
            </a:extLst>
          </p:cNvPr>
          <p:cNvSpPr txBox="1"/>
          <p:nvPr/>
        </p:nvSpPr>
        <p:spPr>
          <a:xfrm>
            <a:off x="5966286" y="138650"/>
            <a:ext cx="62257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20.Show clubs and their number of participants for active(more than 300 participants) clubs (using a view)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VIEW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ActiveClubs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CID,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CName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CNrOfParticipants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Club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CNrOfParticipants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&gt; 300;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* FROM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ActiveClubs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;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DC3877C-B761-4345-BAAB-1622381392E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7022" y="1200461"/>
            <a:ext cx="3716428" cy="32771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241AED0-65BD-4B5B-8DF0-F7ABB3CCB68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7022" y="4477576"/>
            <a:ext cx="3716428" cy="177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2508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4">
            <a:extLst>
              <a:ext uri="{FF2B5EF4-FFF2-40B4-BE49-F238E27FC236}">
                <a16:creationId xmlns:a16="http://schemas.microsoft.com/office/drawing/2014/main" id="{7A3DB475-15A3-4598-9F15-13B0D2495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433" y="3212637"/>
            <a:ext cx="5737225" cy="179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3" name="Picture 5">
            <a:extLst>
              <a:ext uri="{FF2B5EF4-FFF2-40B4-BE49-F238E27FC236}">
                <a16:creationId xmlns:a16="http://schemas.microsoft.com/office/drawing/2014/main" id="{DDEBCD51-6BE0-48BE-8112-221846769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85" y="1935846"/>
            <a:ext cx="4656138" cy="173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A72676-A391-4B69-8910-B786486C6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71" y="0"/>
            <a:ext cx="4967968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21.Retrieve Reports submitted by each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DOSEmployee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CONCAT(D.DFirstName, ' ', D.DLastName) AS EmployeeName,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R.RAcademicYear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AcademicYear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R.RDateSubmitted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DateSubmitted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R.RNrOfEvents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NumberOfEvents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R.RNrOfClubs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NumberOfClubs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Report R,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DOSEmployee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R.DID = D.DID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D.DFirstName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067AA-F841-473A-885E-BAFDFC657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8419" y="483572"/>
            <a:ext cx="4815677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22.Retrieve advisors overseeing the most clubs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CONCAT(A.AFirstName, ' ', A.ALastName) AS AdvisorName,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COUNT(S.CID) AS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NumberOfClubs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Advisor A, Supervises S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A.AID = S.AID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A.AID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NumberOfClubs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DESC;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024002-69B6-427B-A382-7D4C46223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925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0DC6EE-5AFC-45E9-8DED-1C51E6A0BA8A}"/>
              </a:ext>
            </a:extLst>
          </p:cNvPr>
          <p:cNvSpPr txBox="1"/>
          <p:nvPr/>
        </p:nvSpPr>
        <p:spPr>
          <a:xfrm>
            <a:off x="171571" y="3807544"/>
            <a:ext cx="60945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23. Retrieve events which had sponsors sorted from newest to oldest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E.EName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EventName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E.EDate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EventDate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E.ELocation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Location,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E.ESponsor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Sponsor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Event 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E.ESponsor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NOT NULL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E.EDate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DESC;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30513A-1B53-4FEB-8805-D6BD5EB36FD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85" y="5327512"/>
            <a:ext cx="5731510" cy="140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871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C0534B-7030-4A40-BEB9-980FB41B9B8B}"/>
              </a:ext>
            </a:extLst>
          </p:cNvPr>
          <p:cNvSpPr txBox="1"/>
          <p:nvPr/>
        </p:nvSpPr>
        <p:spPr>
          <a:xfrm>
            <a:off x="377238" y="464194"/>
            <a:ext cx="60945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24. Retrieve all club names that have no advisor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C.CName</a:t>
            </a: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ClubName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Club C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LEFT JOIN Supervises S ON C.CID = S.CID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S.AID IS NULL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C.CID;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1DD9C-57C1-4C37-875D-FC232AC5141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38" y="2076477"/>
            <a:ext cx="3686762" cy="3581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1AB4CA-8181-4676-A789-3876DCF4178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96" y="5657810"/>
            <a:ext cx="3683804" cy="8220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FD27DD-0259-4561-BD51-7EDBA642FEBF}"/>
              </a:ext>
            </a:extLst>
          </p:cNvPr>
          <p:cNvSpPr txBox="1"/>
          <p:nvPr/>
        </p:nvSpPr>
        <p:spPr>
          <a:xfrm>
            <a:off x="4920448" y="464194"/>
            <a:ext cx="609452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25. Retrieve the advisor supervising the highest number of clubs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CONCAT(A.AFirstName, ' ', A.ALastName) AS AdvisorName, COUNT(S.CID) AS TotalClubsSupervised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Advisor A, Supervises 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A.AID = S.AID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A.AID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HAVING COUNT(S.CID) = (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SELECT MAX(</a:t>
            </a:r>
            <a:r>
              <a:rPr lang="en-US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ClubCount</a:t>
            </a: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AS </a:t>
            </a:r>
            <a:r>
              <a:rPr lang="en-US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MaxClubCounts</a:t>
            </a: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FROM (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SELECT COUNT(CID) AS </a:t>
            </a:r>
            <a:r>
              <a:rPr lang="en-US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ClubCount</a:t>
            </a: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FROM Supervises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GROUP BY AID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) AS ClubCounts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ECD366-284D-4FBE-8EEE-38EE11E3D0B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448" y="4015469"/>
            <a:ext cx="6094520" cy="121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7519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7478A-F557-9A9C-1001-EAF1F25BE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L" b="1" dirty="0"/>
              <a:t>FRONT END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2F163F-3194-062A-99A8-74F9288312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690" y="1416673"/>
            <a:ext cx="9028766" cy="507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6764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4544EA-F8BB-14D1-DCD9-0B94D640001E}"/>
              </a:ext>
            </a:extLst>
          </p:cNvPr>
          <p:cNvSpPr/>
          <p:nvPr/>
        </p:nvSpPr>
        <p:spPr>
          <a:xfrm>
            <a:off x="2630312" y="1613118"/>
            <a:ext cx="6931378" cy="36317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AL" sz="115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480804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4776</Words>
  <Application>Microsoft Macintosh PowerPoint</Application>
  <PresentationFormat>Widescreen</PresentationFormat>
  <Paragraphs>461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Office Theme</vt:lpstr>
      <vt:lpstr>DATABASE PROJECT TOPIC: EPOKA CLUBS SYSTEM </vt:lpstr>
      <vt:lpstr>PROJECT OUTLINE AND PLANNING  </vt:lpstr>
      <vt:lpstr>RESEARCH AND IDEA CONSOLIDATION </vt:lpstr>
      <vt:lpstr>PROJECT EXECUTION ERD DIAGRAM  </vt:lpstr>
      <vt:lpstr>RELATIONAL SCHEMA</vt:lpstr>
      <vt:lpstr>SQL CODE (Create relations, insert values, create indexes, make queries)  Advisor </vt:lpstr>
      <vt:lpstr>Supervises</vt:lpstr>
      <vt:lpstr>UPDATE EXAMPLE</vt:lpstr>
      <vt:lpstr>Students</vt:lpstr>
      <vt:lpstr>isMemberOf </vt:lpstr>
      <vt:lpstr>participatesIn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FRONT END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PROJECT TOPIC: EPOKA CLUBS SYSTEM </dc:title>
  <dc:creator>suadaterolli@gmail.com</dc:creator>
  <cp:lastModifiedBy>viola zeneli</cp:lastModifiedBy>
  <cp:revision>5</cp:revision>
  <dcterms:created xsi:type="dcterms:W3CDTF">2025-01-19T17:42:53Z</dcterms:created>
  <dcterms:modified xsi:type="dcterms:W3CDTF">2026-10-12T19:52:07Z</dcterms:modified>
</cp:coreProperties>
</file>